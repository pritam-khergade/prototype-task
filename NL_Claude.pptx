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96012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60020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spc="6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LENS</a:t>
            </a:r>
            <a:endParaRPr lang="en-US" sz="5200" dirty="0"/>
          </a:p>
        </p:txBody>
      </p:sp>
      <p:sp>
        <p:nvSpPr>
          <p:cNvPr id="5" name="Text 2"/>
          <p:cNvSpPr/>
          <p:nvPr/>
        </p:nvSpPr>
        <p:spPr>
          <a:xfrm>
            <a:off x="457200" y="2487168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8D5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Intelligence Layer for Claude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457200" y="3017520"/>
            <a:ext cx="5669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8FA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Helping users evaluate, calibrate, and trust AI-generated outputs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8FA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replacing human judgment.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4114800"/>
            <a:ext cx="1371600" cy="274320"/>
          </a:xfrm>
          <a:prstGeom prst="roundRect">
            <a:avLst/>
          </a:prstGeom>
          <a:solidFill>
            <a:srgbClr val="0B6E6E">
              <a:alpha val="30000"/>
            </a:srgbClr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4114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A8D5CF"/>
                </a:solidFill>
              </a:rPr>
              <a:t>Claude · Growth Team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400800" y="274320"/>
            <a:ext cx="4114800" cy="4114800"/>
          </a:xfrm>
          <a:prstGeom prst="ellipse">
            <a:avLst/>
          </a:prstGeom>
          <a:solidFill>
            <a:srgbClr val="0B6E6E">
              <a:alpha val="10000"/>
            </a:srgbClr>
          </a:solidFill>
          <a:ln w="6350">
            <a:solidFill>
              <a:srgbClr val="0B6E6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132320" y="1005840"/>
            <a:ext cx="2560320" cy="2560320"/>
          </a:xfrm>
          <a:prstGeom prst="ellipse">
            <a:avLst/>
          </a:prstGeom>
          <a:solidFill>
            <a:srgbClr val="0B6E6E">
              <a:alpha val="20000"/>
            </a:srgbClr>
          </a:solidFill>
          <a:ln w="6350">
            <a:solidFill>
              <a:srgbClr val="0D9488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1463040" cy="228600"/>
          </a:xfrm>
          <a:prstGeom prst="roundRect">
            <a:avLst/>
          </a:prstGeom>
          <a:solidFill>
            <a:srgbClr val="0B6E6E">
              <a:alpha val="15000"/>
            </a:srgbClr>
          </a:solidFill>
          <a:ln w="6350">
            <a:solidFill>
              <a:srgbClr val="0B6E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0D9488"/>
                </a:solidFill>
              </a:rPr>
              <a:t>THE PROBLEM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Polished AI outputs mask poor quality — and users can't tell the difference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4447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4A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trust problem is not hallucination. It's calibration.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783080"/>
            <a:ext cx="265176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C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783080"/>
            <a:ext cx="54864" cy="2286000"/>
          </a:xfrm>
          <a:prstGeom prst="rect">
            <a:avLst/>
          </a:prstGeom>
          <a:solidFill>
            <a:srgbClr val="D4870C"/>
          </a:solidFill>
          <a:ln w="12700">
            <a:solidFill>
              <a:srgbClr val="D4870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865376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87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Over-trust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2249424"/>
            <a:ext cx="2377440" cy="1719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 of users read AI outputs linearly without critical re-evaluation. Confident phrasing disarms skepticism.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46120" y="1783080"/>
            <a:ext cx="265176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C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46120" y="1783080"/>
            <a:ext cx="54864" cy="22860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9000" y="1865376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Missing context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29000" y="2249424"/>
            <a:ext cx="2377440" cy="1719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outputs omit what they don't know. Users mistake completeness of tone for completeness of content.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80760" y="1783080"/>
            <a:ext cx="265176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C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80760" y="1783080"/>
            <a:ext cx="54864" cy="2286000"/>
          </a:xfrm>
          <a:prstGeom prst="rect">
            <a:avLst/>
          </a:prstGeom>
          <a:solidFill>
            <a:srgbClr val="5A4B8A"/>
          </a:solidFill>
          <a:ln w="12700">
            <a:solidFill>
              <a:srgbClr val="5A4B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63640" y="1865376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A4B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Broken calibration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263640" y="2249424"/>
            <a:ext cx="2377440" cy="1719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Non-experts over-trust; domain experts over-correct. Neither group develops stable evaluation intuition.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11480" y="4297680"/>
            <a:ext cx="8321040" cy="658368"/>
          </a:xfrm>
          <a:prstGeom prst="rect">
            <a:avLst/>
          </a:prstGeom>
          <a:solidFill>
            <a:srgbClr val="F4F7F7"/>
          </a:solidFill>
          <a:ln w="6350">
            <a:solidFill>
              <a:srgbClr val="E5EC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4315968"/>
            <a:ext cx="7863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"It looked really complete — I only realized something was missing when I got pushback from my manager."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4736592"/>
            <a:ext cx="7863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Interview participant, Research analyst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1463040" cy="228600"/>
          </a:xfrm>
          <a:prstGeom prst="roundRect">
            <a:avLst/>
          </a:prstGeom>
          <a:solidFill>
            <a:srgbClr val="0B6E6E">
              <a:alpha val="15000"/>
            </a:srgbClr>
          </a:solidFill>
          <a:ln w="6350">
            <a:solidFill>
              <a:srgbClr val="0B6E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0D9488"/>
                </a:solidFill>
              </a:rPr>
              <a:t>USER RESEARCH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 interviews + 32 surveys reveal three distinct failure patterns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4447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4A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methods: task-based observation, think-aloud sessions, structured survey (n=32)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755648"/>
            <a:ext cx="1874520" cy="1298448"/>
          </a:xfrm>
          <a:prstGeom prst="rect">
            <a:avLst/>
          </a:prstGeom>
          <a:solidFill>
            <a:srgbClr val="F4F7F7"/>
          </a:solidFill>
          <a:ln w="6350">
            <a:solidFill>
              <a:srgbClr val="E5EC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" y="1828800"/>
            <a:ext cx="1655064" cy="71414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87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78%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02920" y="2534717"/>
            <a:ext cx="1691640" cy="4934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outputs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re-evaluation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14600" y="1755648"/>
            <a:ext cx="1874520" cy="1298448"/>
          </a:xfrm>
          <a:prstGeom prst="rect">
            <a:avLst/>
          </a:prstGeom>
          <a:solidFill>
            <a:srgbClr val="F4F7F7"/>
          </a:solidFill>
          <a:ln w="6350">
            <a:solidFill>
              <a:srgbClr val="E5EC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24328" y="1828800"/>
            <a:ext cx="1655064" cy="71414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B6E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23%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606040" y="2534717"/>
            <a:ext cx="1691640" cy="4934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actively check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missing context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17720" y="1755648"/>
            <a:ext cx="1874520" cy="1298448"/>
          </a:xfrm>
          <a:prstGeom prst="rect">
            <a:avLst/>
          </a:prstGeom>
          <a:solidFill>
            <a:srgbClr val="F4F7F7"/>
          </a:solidFill>
          <a:ln w="6350">
            <a:solidFill>
              <a:srgbClr val="E5EC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27448" y="1828800"/>
            <a:ext cx="1655064" cy="71414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61%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709160" y="2534717"/>
            <a:ext cx="1691640" cy="4934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over-rate output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on first read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720840" y="1755648"/>
            <a:ext cx="1874520" cy="1298448"/>
          </a:xfrm>
          <a:prstGeom prst="rect">
            <a:avLst/>
          </a:prstGeom>
          <a:solidFill>
            <a:srgbClr val="F4F7F7"/>
          </a:solidFill>
          <a:ln w="6350">
            <a:solidFill>
              <a:srgbClr val="E5EC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30568" y="1828800"/>
            <a:ext cx="1655064" cy="71414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D7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89%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812280" y="2534717"/>
            <a:ext cx="1691640" cy="4934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 to get better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evaluating AI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1480" y="3182112"/>
            <a:ext cx="2651760" cy="1719072"/>
          </a:xfrm>
          <a:prstGeom prst="rect">
            <a:avLst/>
          </a:prstGeom>
          <a:solidFill>
            <a:srgbClr val="F4F7F7"/>
          </a:solidFill>
          <a:ln w="6350">
            <a:solidFill>
              <a:srgbClr val="E5EC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9496" y="3273552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1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39496" y="345643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Polished Facade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39496" y="3767328"/>
            <a:ext cx="2395728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treat formatting cues (headers, bold text, structured lists) as proxies for quality. An ugly but accurate answer is rated lower than a beautiful but incomplete one.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39496" y="4663440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FA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in 6/7 interviews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46120" y="3182112"/>
            <a:ext cx="2651760" cy="1719072"/>
          </a:xfrm>
          <a:prstGeom prst="rect">
            <a:avLst/>
          </a:prstGeom>
          <a:solidFill>
            <a:srgbClr val="F4F7F7"/>
          </a:solidFill>
          <a:ln w="6350">
            <a:solidFill>
              <a:srgbClr val="E5EC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74136" y="3273552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2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374136" y="345643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Completeness Gap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374136" y="3767328"/>
            <a:ext cx="2395728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participant spontaneously asked "what is missing?" — they evaluated what was present, not what was absent. This is the single biggest failure mode.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374136" y="4663440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FA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by survey: 71%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080760" y="3182112"/>
            <a:ext cx="2651760" cy="1719072"/>
          </a:xfrm>
          <a:prstGeom prst="rect">
            <a:avLst/>
          </a:prstGeom>
          <a:solidFill>
            <a:srgbClr val="F4F7F7"/>
          </a:solidFill>
          <a:ln w="6350">
            <a:solidFill>
              <a:srgbClr val="E5EC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08776" y="3273552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3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208776" y="345643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Confidence Polarization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208776" y="3767328"/>
            <a:ext cx="2395728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became either over-reliant ("Claude said it, so it's probably right") or wholesale skeptical ("I don't trust any of it"). Calibrated middle ground was rare.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208776" y="4663440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FA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3/7 interviews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1463040" cy="228600"/>
          </a:xfrm>
          <a:prstGeom prst="roundRect">
            <a:avLst/>
          </a:prstGeom>
          <a:solidFill>
            <a:srgbClr val="0B6E6E">
              <a:alpha val="15000"/>
            </a:srgbClr>
          </a:solidFill>
          <a:ln w="6350">
            <a:solidFill>
              <a:srgbClr val="0B6E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0D9488"/>
                </a:solidFill>
              </a:rPr>
              <a:t>TARGET SEGMENT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Primary segment: knowledge workers using Claude for high-stakes tasks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4447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4A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beginners. Not developers. The people in between — doing real work, real decisions.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773936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32688" y="1773936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Who they are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02920" y="2249424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22960" y="2249424"/>
            <a:ext cx="3749040" cy="34747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Mid-career professionals: analysts, writers, PMs, recruiters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02920" y="2651760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22960" y="2651760"/>
            <a:ext cx="3749040" cy="34747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 AI users — not first-timers, not power users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02920" y="3054096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22960" y="3054096"/>
            <a:ext cx="3749040" cy="34747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Claude for research, reports, career prep, content drafts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02920" y="3456432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22960" y="3456432"/>
            <a:ext cx="3749040" cy="34747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personal or professional stakes on output quality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754880" y="1719072"/>
            <a:ext cx="3931920" cy="3200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983480" y="1847088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Their unmet needs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4983480" y="226771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D5C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Know what's wrong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983480" y="252374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FA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weak reasoning and gaps — don't just give a score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983480" y="294436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D5C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Understand uncertainty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4983480" y="32004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FA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me where you're confident and where you're guessing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983480" y="362102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D5C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my own judgment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4983480" y="3877056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FA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 me to evaluate, not just consume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4983480" y="429768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D5C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Stay in control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4983480" y="455371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FA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my decision — don't make it for me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457200" y="4773168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FA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beginners? They need onboarding, not evaluation tools. Why not developers? They have their own evaluation workflows.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1463040" cy="228600"/>
          </a:xfrm>
          <a:prstGeom prst="roundRect">
            <a:avLst/>
          </a:prstGeom>
          <a:solidFill>
            <a:srgbClr val="0B6E6E">
              <a:alpha val="15000"/>
            </a:srgbClr>
          </a:solidFill>
          <a:ln w="6350">
            <a:solidFill>
              <a:srgbClr val="0B6E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0D9488"/>
                </a:solidFill>
              </a:rPr>
              <a:t>USER JOURNEY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Trust collapses at interpretation — before users ever evaluate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4447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4A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breakdown is not at generation. It's in how outputs are read and what questions users fail to ask.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640080" cy="640080"/>
          </a:xfrm>
          <a:prstGeom prst="ellipse">
            <a:avLst/>
          </a:prstGeom>
          <a:solidFill>
            <a:srgbClr val="E1F5EE"/>
          </a:solidFill>
          <a:ln w="19050">
            <a:solidFill>
              <a:srgbClr val="1D7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737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D7A5F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" y="245059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Prompting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37160" y="2852928"/>
            <a:ext cx="1097280" cy="914400"/>
          </a:xfrm>
          <a:prstGeom prst="rect">
            <a:avLst/>
          </a:prstGeom>
          <a:solidFill>
            <a:srgbClr val="F4F7F7"/>
          </a:solidFill>
          <a:ln w="6350">
            <a:solidFill>
              <a:srgbClr val="1D7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2889504"/>
            <a:ext cx="93268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Underspecified context is the main issue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024128" y="2057400"/>
            <a:ext cx="1060704" cy="0"/>
          </a:xfrm>
          <a:prstGeom prst="line">
            <a:avLst/>
          </a:prstGeom>
          <a:noFill/>
          <a:ln w="19050">
            <a:solidFill>
              <a:srgbClr val="E5EC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84832" y="1737360"/>
            <a:ext cx="640080" cy="640080"/>
          </a:xfrm>
          <a:prstGeom prst="ellipse">
            <a:avLst/>
          </a:prstGeom>
          <a:solidFill>
            <a:srgbClr val="E1F5EE"/>
          </a:solidFill>
          <a:ln w="19050">
            <a:solidFill>
              <a:srgbClr val="1D7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84832" y="1737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D7A5F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764792" y="245059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56232" y="2852928"/>
            <a:ext cx="1097280" cy="914400"/>
          </a:xfrm>
          <a:prstGeom prst="rect">
            <a:avLst/>
          </a:prstGeom>
          <a:solidFill>
            <a:srgbClr val="F4F7F7"/>
          </a:solidFill>
          <a:ln w="6350">
            <a:solidFill>
              <a:srgbClr val="1D7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47672" y="2889504"/>
            <a:ext cx="93268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Polished format creates false quality signal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0" y="2057400"/>
            <a:ext cx="1060704" cy="0"/>
          </a:xfrm>
          <a:prstGeom prst="line">
            <a:avLst/>
          </a:prstGeom>
          <a:noFill/>
          <a:ln w="19050">
            <a:solidFill>
              <a:srgbClr val="E5EC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803904" y="1737360"/>
            <a:ext cx="640080" cy="640080"/>
          </a:xfrm>
          <a:prstGeom prst="ellipse">
            <a:avLst/>
          </a:prstGeom>
          <a:solidFill>
            <a:srgbClr val="FDECEA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03904" y="1737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0392B"/>
                </a:solidFill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483864" y="245059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First read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575304" y="2852928"/>
            <a:ext cx="1097280" cy="914400"/>
          </a:xfrm>
          <a:prstGeom prst="rect">
            <a:avLst/>
          </a:prstGeom>
          <a:solidFill>
            <a:srgbClr val="FDECEA"/>
          </a:solidFill>
          <a:ln w="6350">
            <a:solidFill>
              <a:srgbClr val="C039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66744" y="2889504"/>
            <a:ext cx="93268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 don't re-read critically. Confidence language suppresses doubt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462272" y="2057400"/>
            <a:ext cx="1060704" cy="0"/>
          </a:xfrm>
          <a:prstGeom prst="line">
            <a:avLst/>
          </a:prstGeom>
          <a:noFill/>
          <a:ln w="19050">
            <a:solidFill>
              <a:srgbClr val="E5EC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522976" y="1737360"/>
            <a:ext cx="640080" cy="640080"/>
          </a:xfrm>
          <a:prstGeom prst="ellipse">
            <a:avLst/>
          </a:prstGeom>
          <a:solidFill>
            <a:srgbClr val="FDECEA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22976" y="1737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0392B"/>
                </a:solidFill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202936" y="245059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Evaluation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294376" y="2852928"/>
            <a:ext cx="1097280" cy="914400"/>
          </a:xfrm>
          <a:prstGeom prst="rect">
            <a:avLst/>
          </a:prstGeom>
          <a:solidFill>
            <a:srgbClr val="FDECEA"/>
          </a:solidFill>
          <a:ln w="6350">
            <a:solidFill>
              <a:srgbClr val="C0392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85816" y="2889504"/>
            <a:ext cx="93268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23% check for what's missing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81344" y="2057400"/>
            <a:ext cx="1060704" cy="0"/>
          </a:xfrm>
          <a:prstGeom prst="line">
            <a:avLst/>
          </a:prstGeom>
          <a:noFill/>
          <a:ln w="19050">
            <a:solidFill>
              <a:srgbClr val="E5EC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42048" y="1737360"/>
            <a:ext cx="640080" cy="640080"/>
          </a:xfrm>
          <a:prstGeom prst="ellipse">
            <a:avLst/>
          </a:prstGeom>
          <a:solidFill>
            <a:srgbClr val="FFF0D4"/>
          </a:solidFill>
          <a:ln w="19050">
            <a:solidFill>
              <a:srgbClr val="D4870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242048" y="1737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870C"/>
                </a:solidFill>
              </a:rPr>
              <a:t>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922008" y="245059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Action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013448" y="2852928"/>
            <a:ext cx="1097280" cy="914400"/>
          </a:xfrm>
          <a:prstGeom prst="rect">
            <a:avLst/>
          </a:prstGeom>
          <a:solidFill>
            <a:srgbClr val="F4F7F7"/>
          </a:solidFill>
          <a:ln w="6350">
            <a:solidFill>
              <a:srgbClr val="D4870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04888" y="2889504"/>
            <a:ext cx="93268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stakes — career, financial, analytical decisions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" y="3977640"/>
            <a:ext cx="201168" cy="201168"/>
          </a:xfrm>
          <a:prstGeom prst="ellipse">
            <a:avLst/>
          </a:prstGeom>
          <a:solidFill>
            <a:srgbClr val="E1F5EE"/>
          </a:solidFill>
          <a:ln w="12700">
            <a:solidFill>
              <a:srgbClr val="1D7A5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94944" y="395020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risk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286000" y="3977640"/>
            <a:ext cx="201168" cy="201168"/>
          </a:xfrm>
          <a:prstGeom prst="ellipse">
            <a:avLst/>
          </a:prstGeom>
          <a:solidFill>
            <a:srgbClr val="FFF0D4"/>
          </a:solidFill>
          <a:ln w="12700">
            <a:solidFill>
              <a:srgbClr val="D4870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523744" y="395020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risk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114800" y="3977640"/>
            <a:ext cx="201168" cy="201168"/>
          </a:xfrm>
          <a:prstGeom prst="ellipse">
            <a:avLst/>
          </a:prstGeom>
          <a:solidFill>
            <a:srgbClr val="FDECE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352544" y="395020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65760" y="4343400"/>
            <a:ext cx="8412480" cy="56692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8640" y="4370832"/>
            <a:ext cx="8046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Lens intervenes at stages 3 and 4 — inline annotation at first read, structured evaluation in the side panel.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1463040" cy="228600"/>
          </a:xfrm>
          <a:prstGeom prst="roundRect">
            <a:avLst/>
          </a:prstGeom>
          <a:solidFill>
            <a:srgbClr val="0B6E6E">
              <a:alpha val="15000"/>
            </a:srgbClr>
          </a:solidFill>
          <a:ln w="6350">
            <a:solidFill>
              <a:srgbClr val="0B6E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0D9488"/>
                </a:solidFill>
              </a:rPr>
              <a:t>SOLUTION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Lens: three layers of output intelligence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8D5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non-opaque evaluation layer — surfacing reasoning, gaps, and uncertainty without replacing human judgment.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84048" y="1600200"/>
            <a:ext cx="2724912" cy="3200400"/>
          </a:xfrm>
          <a:prstGeom prst="rect">
            <a:avLst/>
          </a:prstGeom>
          <a:solidFill>
            <a:srgbClr val="FFFFFF">
              <a:alpha val="94000"/>
            </a:srgbClr>
          </a:solidFill>
          <a:ln w="9525">
            <a:solidFill>
              <a:srgbClr val="0B6E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719072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6E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8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05456" y="1783080"/>
            <a:ext cx="384048" cy="3840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30352" y="2267712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Inline signal layer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30352" y="2697480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FA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Color-coded highlights on weak reasoning, missing context, and high-uncertainty claims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30352" y="3319272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FA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bar on each response (context-specific, not a generic trust score)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30352" y="3941064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FA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assumption tags — surfaces what the AI assumed without being asked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264408" y="1600200"/>
            <a:ext cx="2724912" cy="3200400"/>
          </a:xfrm>
          <a:prstGeom prst="rect">
            <a:avLst/>
          </a:prstGeom>
          <a:solidFill>
            <a:srgbClr val="FFFFFF">
              <a:alpha val="94000"/>
            </a:srgbClr>
          </a:solidFill>
          <a:ln w="9525">
            <a:solidFill>
              <a:srgbClr val="0B6E6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410712" y="1719072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6E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8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5816" y="1783080"/>
            <a:ext cx="384048" cy="38404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410712" y="2267712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Evaluation panel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3410712" y="2697480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FA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Multi-dimensional quality scores: correctness, completeness, reasoning, usefulness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3410712" y="3319272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FA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 perspectives surfaced from a second model pass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3410712" y="3941064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FA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trace — what assumptions were made, what was skipped, knowledge cutoffs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6144768" y="1600200"/>
            <a:ext cx="2724912" cy="3200400"/>
          </a:xfrm>
          <a:prstGeom prst="rect">
            <a:avLst/>
          </a:prstGeom>
          <a:solidFill>
            <a:srgbClr val="FFFFFF">
              <a:alpha val="94000"/>
            </a:srgbClr>
          </a:solidFill>
          <a:ln w="9525">
            <a:solidFill>
              <a:srgbClr val="0B6E6E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291072" y="1719072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6E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80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6176" y="1783080"/>
            <a:ext cx="384048" cy="38404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291072" y="2267712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Calibration mode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6291072" y="2697480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FA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practice exercises per domain (research, writing, career, code)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6291072" y="3319272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FA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insight: where does your blind spot tend to be?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6291072" y="3941064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FA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skill building — evaluation intuition, not score-reading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384048" y="4919472"/>
            <a:ext cx="837590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built on top of outputs — integrated at generation time. Uncertainty is flagged as it is produced, not as a post-hoc overlay.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1463040" cy="228600"/>
          </a:xfrm>
          <a:prstGeom prst="roundRect">
            <a:avLst/>
          </a:prstGeom>
          <a:solidFill>
            <a:srgbClr val="0B6E6E">
              <a:alpha val="15000"/>
            </a:srgbClr>
          </a:solidFill>
          <a:ln w="6350">
            <a:solidFill>
              <a:srgbClr val="0B6E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0D9488"/>
                </a:solidFill>
              </a:rPr>
              <a:t>SYSTEM DESIGN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Lens evaluates reasoning, not just facts — here's how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4447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4A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model pass with retrieval augmentation surfaces what the primary response missed or assumed.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737360"/>
            <a:ext cx="1572768" cy="960120"/>
          </a:xfrm>
          <a:prstGeom prst="roundRect">
            <a:avLst>
              <a:gd name="adj" fmla="val 7619"/>
            </a:avLst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" y="1773936"/>
            <a:ext cx="14264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 prompt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74904" y="2103120"/>
            <a:ext cx="146304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E5EC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quality nudge if underspecified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911096" y="2212848"/>
            <a:ext cx="128016" cy="0"/>
          </a:xfrm>
          <a:prstGeom prst="line">
            <a:avLst/>
          </a:prstGeom>
          <a:noFill/>
          <a:ln w="19050">
            <a:solidFill>
              <a:srgbClr val="8FA8A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03120" y="1737360"/>
            <a:ext cx="1572768" cy="960120"/>
          </a:xfrm>
          <a:prstGeom prst="roundRect">
            <a:avLst>
              <a:gd name="adj" fmla="val 7619"/>
            </a:avLst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76272" y="1773936"/>
            <a:ext cx="14264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Primary response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57984" y="2103120"/>
            <a:ext cx="146304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E5EC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generates output with uncertainty markers inline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94176" y="2212848"/>
            <a:ext cx="128016" cy="0"/>
          </a:xfrm>
          <a:prstGeom prst="line">
            <a:avLst/>
          </a:prstGeom>
          <a:noFill/>
          <a:ln w="19050">
            <a:solidFill>
              <a:srgbClr val="8FA8A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86200" y="1737360"/>
            <a:ext cx="1572768" cy="960120"/>
          </a:xfrm>
          <a:prstGeom prst="roundRect">
            <a:avLst>
              <a:gd name="adj" fmla="val 7619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59352" y="1773936"/>
            <a:ext cx="14264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Lens pass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941064" y="2103120"/>
            <a:ext cx="146304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A8D5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eval model: flags claims, traces reasoning, checks completeness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77256" y="2212848"/>
            <a:ext cx="128016" cy="0"/>
          </a:xfrm>
          <a:prstGeom prst="line">
            <a:avLst/>
          </a:prstGeom>
          <a:noFill/>
          <a:ln w="19050">
            <a:solidFill>
              <a:srgbClr val="8FA8A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69280" y="1737360"/>
            <a:ext cx="1572768" cy="960120"/>
          </a:xfrm>
          <a:prstGeom prst="roundRect">
            <a:avLst>
              <a:gd name="adj" fmla="val 7619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42432" y="1773936"/>
            <a:ext cx="14264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Panel assembly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724144" y="2103120"/>
            <a:ext cx="146304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A8D5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Scores, flags, alternatives, reasoning trace composed into side panel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260336" y="2212848"/>
            <a:ext cx="128016" cy="0"/>
          </a:xfrm>
          <a:prstGeom prst="line">
            <a:avLst/>
          </a:prstGeom>
          <a:noFill/>
          <a:ln w="19050">
            <a:solidFill>
              <a:srgbClr val="8FA8A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424928" y="1737360"/>
            <a:ext cx="1572768" cy="960120"/>
          </a:xfrm>
          <a:prstGeom prst="roundRect">
            <a:avLst>
              <a:gd name="adj" fmla="val 7619"/>
            </a:avLst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98080" y="1773936"/>
            <a:ext cx="14264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 action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479792" y="2103120"/>
            <a:ext cx="146304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A8D5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evaluates, asks follow-up, or acts with judgment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65760" y="2926080"/>
            <a:ext cx="2651760" cy="1572768"/>
          </a:xfrm>
          <a:prstGeom prst="rect">
            <a:avLst/>
          </a:prstGeom>
          <a:solidFill>
            <a:srgbClr val="F4F7F7"/>
          </a:solidFill>
          <a:ln w="6350">
            <a:solidFill>
              <a:srgbClr val="E5ECEB"/>
            </a:solidFill>
            <a:prstDash val="solid"/>
          </a:ln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" y="3017520"/>
            <a:ext cx="292608" cy="292608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877824" y="301752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black box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512064" y="338328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flag shows WHY — the reasoning trace explains what the evaluator checked and what it couldn't access.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3246120" y="2926080"/>
            <a:ext cx="2651760" cy="1572768"/>
          </a:xfrm>
          <a:prstGeom prst="rect">
            <a:avLst/>
          </a:prstGeom>
          <a:solidFill>
            <a:srgbClr val="F4F7F7"/>
          </a:solidFill>
          <a:ln w="6350">
            <a:solidFill>
              <a:srgbClr val="E5ECEB"/>
            </a:solidFill>
            <a:prstDash val="solid"/>
          </a:ln>
        </p:spPr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2424" y="3017520"/>
            <a:ext cx="292608" cy="292608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3758184" y="301752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 always in control</a:t>
            </a:r>
            <a:endParaRPr lang="en-US" sz="1300" dirty="0"/>
          </a:p>
        </p:txBody>
      </p:sp>
      <p:sp>
        <p:nvSpPr>
          <p:cNvPr id="32" name="Text 28"/>
          <p:cNvSpPr/>
          <p:nvPr/>
        </p:nvSpPr>
        <p:spPr>
          <a:xfrm>
            <a:off x="3392424" y="338328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Lens adds context — it never gates, removes, or hides the original output. Users choose what to act on.</a:t>
            </a:r>
            <a:endParaRPr lang="en-US" sz="1200" dirty="0"/>
          </a:p>
        </p:txBody>
      </p:sp>
      <p:sp>
        <p:nvSpPr>
          <p:cNvPr id="33" name="Shape 29"/>
          <p:cNvSpPr/>
          <p:nvPr/>
        </p:nvSpPr>
        <p:spPr>
          <a:xfrm>
            <a:off x="6126480" y="2926080"/>
            <a:ext cx="2651760" cy="1572768"/>
          </a:xfrm>
          <a:prstGeom prst="rect">
            <a:avLst/>
          </a:prstGeom>
          <a:solidFill>
            <a:srgbClr val="F4F7F7"/>
          </a:solidFill>
          <a:ln w="6350">
            <a:solidFill>
              <a:srgbClr val="E5ECEB"/>
            </a:solidFill>
            <a:prstDash val="solid"/>
          </a:ln>
        </p:spPr>
      </p:sp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2784" y="3017520"/>
            <a:ext cx="292608" cy="292608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6638544" y="301752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Context-aware scoring</a:t>
            </a:r>
            <a:endParaRPr lang="en-US" sz="1300" dirty="0"/>
          </a:p>
        </p:txBody>
      </p:sp>
      <p:sp>
        <p:nvSpPr>
          <p:cNvPr id="36" name="Text 31"/>
          <p:cNvSpPr/>
          <p:nvPr/>
        </p:nvSpPr>
        <p:spPr>
          <a:xfrm>
            <a:off x="6272784" y="338328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is judged relative to the stated goal and domain. A casual summary is scored differently than a financial analysis.</a:t>
            </a:r>
            <a:endParaRPr lang="en-US" sz="1200" dirty="0"/>
          </a:p>
        </p:txBody>
      </p:sp>
      <p:sp>
        <p:nvSpPr>
          <p:cNvPr id="37" name="Shape 32"/>
          <p:cNvSpPr/>
          <p:nvPr/>
        </p:nvSpPr>
        <p:spPr>
          <a:xfrm>
            <a:off x="365760" y="4681728"/>
            <a:ext cx="8412480" cy="347472"/>
          </a:xfrm>
          <a:prstGeom prst="rect">
            <a:avLst/>
          </a:prstGeom>
          <a:solidFill>
            <a:srgbClr val="FFF0D4"/>
          </a:solidFill>
          <a:ln w="6350">
            <a:solidFill>
              <a:srgbClr val="D4870C"/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502920" y="4700016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cases: conflicting outputs → both surfaced with explicit disagreement flag. Overconfident AI → Lens downgrades score and adds "high uncertainty" tag. Incomplete reasoning → "gap" annotation + suggested follow-up prompts.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1463040" cy="228600"/>
          </a:xfrm>
          <a:prstGeom prst="roundRect">
            <a:avLst/>
          </a:prstGeom>
          <a:solidFill>
            <a:srgbClr val="0B6E6E">
              <a:alpha val="15000"/>
            </a:srgbClr>
          </a:solidFill>
          <a:ln w="6350">
            <a:solidFill>
              <a:srgbClr val="0B6E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0D9488"/>
                </a:solidFill>
              </a:rPr>
              <a:t>BUSINESS CASE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Lens turns trust instability into Claude's deepest competitive moat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4447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4A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outcome is not "more usage" — it's more confident usage on harder tasks.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874520"/>
            <a:ext cx="475488" cy="475488"/>
          </a:xfrm>
          <a:prstGeom prst="ellipse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" y="1911096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9264" y="189280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Retention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69264" y="216712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who trust outputs confidently return for harder tasks — not just quick questions. Target: +18% D30 retention for high-stakes use cases.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65760" y="2916936"/>
            <a:ext cx="475488" cy="475488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2953512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69264" y="293522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Task depth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969264" y="3209544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users engage in longer, multi-turn sessions with better outcomes. Proxy for enterprise upsell readiness.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365760" y="3959352"/>
            <a:ext cx="475488" cy="475488"/>
          </a:xfrm>
          <a:prstGeom prst="ellipse">
            <a:avLst/>
          </a:prstGeom>
          <a:solidFill>
            <a:srgbClr val="1D7A5F"/>
          </a:solidFill>
          <a:ln w="12700">
            <a:solidFill>
              <a:srgbClr val="1D7A5F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" y="3995928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69264" y="397764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Adoption ceiling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969264" y="425196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#1 barrier to Claude for professional work is "I'm not sure I can rely on it." Lens directly removes this ceiling.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5074920" y="1810512"/>
            <a:ext cx="3566160" cy="3154680"/>
          </a:xfrm>
          <a:prstGeom prst="rect">
            <a:avLst/>
          </a:prstGeom>
          <a:solidFill>
            <a:srgbClr val="F4F7F7"/>
          </a:solidFill>
          <a:ln w="6350">
            <a:solidFill>
              <a:srgbClr val="E5ECEB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5212080" y="19202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trade-offs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5074920" y="2322576"/>
            <a:ext cx="3566160" cy="18288"/>
          </a:xfrm>
          <a:prstGeom prst="rect">
            <a:avLst/>
          </a:prstGeom>
          <a:solidFill>
            <a:srgbClr val="E5ECEB"/>
          </a:solidFill>
          <a:ln w="12700">
            <a:solidFill>
              <a:srgbClr val="E5ECEB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5212080" y="239572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pPr indent="0" marL="0">
              <a:buNone/>
            </a:pPr>
            <a:r>
              <a:rPr lang="en-US" sz="1300" dirty="0">
                <a:solidFill>
                  <a:srgbClr val="8FA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vs  </a:t>
            </a:r>
            <a:pPr indent="0" marL="0">
              <a:buNone/>
            </a:pPr>
            <a:r>
              <a:rPr lang="en-US" sz="1300" b="1" dirty="0">
                <a:solidFill>
                  <a:srgbClr val="D487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5212080" y="2670048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Lens adds ~0.8s latency. Panel is loaded async so primary response renders first.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5074920" y="3218688"/>
            <a:ext cx="3566160" cy="18288"/>
          </a:xfrm>
          <a:prstGeom prst="rect">
            <a:avLst/>
          </a:prstGeom>
          <a:solidFill>
            <a:srgbClr val="E5ECEB"/>
          </a:solidFill>
          <a:ln w="12700">
            <a:solidFill>
              <a:srgbClr val="E5ECEB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5212080" y="329184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Assistance</a:t>
            </a:r>
            <a:pPr indent="0" marL="0">
              <a:buNone/>
            </a:pPr>
            <a:r>
              <a:rPr lang="en-US" sz="1300" dirty="0">
                <a:solidFill>
                  <a:srgbClr val="8FA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vs  </a:t>
            </a:r>
            <a:pPr indent="0" marL="0">
              <a:buNone/>
            </a:pPr>
            <a:r>
              <a:rPr lang="en-US" sz="1300" b="1" dirty="0">
                <a:solidFill>
                  <a:srgbClr val="D487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Dependence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5212080" y="3566160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users trust the score, not their judgment. Mitigated by Calibration Mode and framing scores as starting points.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5074920" y="4114800"/>
            <a:ext cx="3566160" cy="18288"/>
          </a:xfrm>
          <a:prstGeom prst="rect">
            <a:avLst/>
          </a:prstGeom>
          <a:solidFill>
            <a:srgbClr val="E5ECEB"/>
          </a:solidFill>
          <a:ln w="12700">
            <a:solidFill>
              <a:srgbClr val="E5ECEB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5212080" y="4187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</a:t>
            </a:r>
            <a:pPr indent="0" marL="0">
              <a:buNone/>
            </a:pPr>
            <a:r>
              <a:rPr lang="en-US" sz="1300" dirty="0">
                <a:solidFill>
                  <a:srgbClr val="8FA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vs  </a:t>
            </a:r>
            <a:pPr indent="0" marL="0">
              <a:buNone/>
            </a:pPr>
            <a:r>
              <a:rPr lang="en-US" sz="1300" b="1" dirty="0">
                <a:solidFill>
                  <a:srgbClr val="D487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load</a:t>
            </a:r>
            <a:endParaRPr lang="en-US" sz="1300" dirty="0"/>
          </a:p>
        </p:txBody>
      </p:sp>
      <p:sp>
        <p:nvSpPr>
          <p:cNvPr id="28" name="Text 23"/>
          <p:cNvSpPr/>
          <p:nvPr/>
        </p:nvSpPr>
        <p:spPr>
          <a:xfrm>
            <a:off x="5212080" y="4462272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disclosure: 2 flags by default, full panel opt-in per session.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1463040" cy="228600"/>
          </a:xfrm>
          <a:prstGeom prst="roundRect">
            <a:avLst/>
          </a:prstGeom>
          <a:solidFill>
            <a:srgbClr val="0B6E6E">
              <a:alpha val="15000"/>
            </a:srgbClr>
          </a:solidFill>
          <a:ln w="6350">
            <a:solidFill>
              <a:srgbClr val="0B6E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0D9488"/>
                </a:solidFill>
              </a:rPr>
              <a:t>MEASURING SUCCESS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North star: % of users whose confidence matches actual output quality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4447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4A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measure calibration — not engagement, not clicks. Engagement without calibration is the problem, not the solution.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444752"/>
            <a:ext cx="841248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481328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Calibration accuracy score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66928" y="182880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D5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70% of active users calibrated within 90 days of Lens activation  ·  Measured via Calibration Mode + real-task follow-up surveys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24231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Leading indicators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761488"/>
            <a:ext cx="4069080" cy="566928"/>
          </a:xfrm>
          <a:prstGeom prst="rect">
            <a:avLst/>
          </a:prstGeom>
          <a:solidFill>
            <a:srgbClr val="F4F7F7"/>
          </a:solidFill>
          <a:ln w="6350">
            <a:solidFill>
              <a:srgbClr val="E5EC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" y="280720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Lens panel open rate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3776" y="3054096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≥40% of outputs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74720" y="2807208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50" kern="0" dirty="0">
                <a:solidFill>
                  <a:srgbClr val="8FA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17720" y="2761488"/>
            <a:ext cx="4069080" cy="566928"/>
          </a:xfrm>
          <a:prstGeom prst="rect">
            <a:avLst/>
          </a:prstGeom>
          <a:solidFill>
            <a:srgbClr val="F4F7F7"/>
          </a:solidFill>
          <a:ln w="6350">
            <a:solidFill>
              <a:srgbClr val="E5EC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45736" y="280720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Flag interaction rate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45736" y="3054096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≥2 flags engaged per session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726680" y="2807208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50" kern="0" dirty="0">
                <a:solidFill>
                  <a:srgbClr val="8FA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3419856"/>
            <a:ext cx="4069080" cy="566928"/>
          </a:xfrm>
          <a:prstGeom prst="rect">
            <a:avLst/>
          </a:prstGeom>
          <a:solidFill>
            <a:srgbClr val="F4F7F7"/>
          </a:solidFill>
          <a:ln w="6350">
            <a:solidFill>
              <a:srgbClr val="E5EC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" y="346557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Calibration sessions/week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3776" y="371246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≥3 sessions per active user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0" y="3465576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50" kern="0" dirty="0">
                <a:solidFill>
                  <a:srgbClr val="8FA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617720" y="3419856"/>
            <a:ext cx="4069080" cy="566928"/>
          </a:xfrm>
          <a:prstGeom prst="rect">
            <a:avLst/>
          </a:prstGeom>
          <a:solidFill>
            <a:srgbClr val="F4F7F7"/>
          </a:solidFill>
          <a:ln w="6350">
            <a:solidFill>
              <a:srgbClr val="E5EC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45736" y="346557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High-stakes task depth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45736" y="371246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Multi-turn sessions on hard tasks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726680" y="3465576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50" kern="0" dirty="0">
                <a:solidFill>
                  <a:srgbClr val="8FA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65760" y="415137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Guardrail metrics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65760" y="4480560"/>
            <a:ext cx="164592" cy="16459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3504" y="4462272"/>
            <a:ext cx="7955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interaction &lt; 15% → feature has become noise — trigger UX review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65760" y="4828032"/>
            <a:ext cx="164592" cy="16459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3504" y="4809744"/>
            <a:ext cx="7955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scores declining → Lens is creating score dependence — redesign framing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1463040" cy="228600"/>
          </a:xfrm>
          <a:prstGeom prst="roundRect">
            <a:avLst/>
          </a:prstGeom>
          <a:solidFill>
            <a:srgbClr val="0B6E6E">
              <a:alpha val="15000"/>
            </a:srgbClr>
          </a:solidFill>
          <a:ln w="6350">
            <a:solidFill>
              <a:srgbClr val="0B6E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0D9488"/>
                </a:solidFill>
              </a:rPr>
              <a:t>SELF-CRITIQUE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Lens could fail — here's how, and how we'd catch it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8D5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important question isn't whether Lens works. It's: under what conditions does it make things worse?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84048" y="1600200"/>
            <a:ext cx="4133088" cy="1572768"/>
          </a:xfrm>
          <a:prstGeom prst="rect">
            <a:avLst/>
          </a:prstGeom>
          <a:solidFill>
            <a:srgbClr val="FFFFFF">
              <a:alpha val="6000"/>
            </a:srgbClr>
          </a:solidFill>
          <a:ln w="9525">
            <a:solidFill>
              <a:srgbClr val="C039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12064" y="1709928"/>
            <a:ext cx="749808" cy="201168"/>
          </a:xfrm>
          <a:prstGeom prst="roundRect">
            <a:avLst>
              <a:gd name="adj" fmla="val 18182"/>
            </a:avLst>
          </a:prstGeom>
          <a:solidFill>
            <a:srgbClr val="C0392B">
              <a:alpha val="70000"/>
            </a:srgbClr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" y="1709928"/>
            <a:ext cx="7498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C0392B"/>
                </a:solidFill>
              </a:rPr>
              <a:t>Critical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335024" y="1691640"/>
            <a:ext cx="3054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Score becomes a new trust shortcut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12064" y="2002536"/>
            <a:ext cx="38770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FA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trust Lens's score the way they trusted the output. Calibration collapses into score-reading.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" y="2487168"/>
            <a:ext cx="3877056" cy="13716"/>
          </a:xfrm>
          <a:prstGeom prst="rect">
            <a:avLst/>
          </a:prstGeom>
          <a:solidFill>
            <a:srgbClr val="4A6663"/>
          </a:solidFill>
          <a:ln w="12700">
            <a:solidFill>
              <a:srgbClr val="4A666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064" y="2532888"/>
            <a:ext cx="387705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A8D5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FA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framed as "starting points." Calibration Mode teaches evaluation, not score-reading. Framing language A/B tested.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00016" y="1600200"/>
            <a:ext cx="4133088" cy="1572768"/>
          </a:xfrm>
          <a:prstGeom prst="rect">
            <a:avLst/>
          </a:prstGeom>
          <a:solidFill>
            <a:srgbClr val="FFFFFF">
              <a:alpha val="6000"/>
            </a:srgbClr>
          </a:solidFill>
          <a:ln w="9525">
            <a:solidFill>
              <a:srgbClr val="C039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28032" y="1709928"/>
            <a:ext cx="749808" cy="201168"/>
          </a:xfrm>
          <a:prstGeom prst="roundRect">
            <a:avLst>
              <a:gd name="adj" fmla="val 18182"/>
            </a:avLst>
          </a:prstGeom>
          <a:solidFill>
            <a:srgbClr val="C0392B">
              <a:alpha val="70000"/>
            </a:srgbClr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28032" y="1709928"/>
            <a:ext cx="7498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C0392B"/>
                </a:solidFill>
              </a:rPr>
              <a:t>Critical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650992" y="1691640"/>
            <a:ext cx="3054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evaluating AI — shared blind spots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28032" y="2002536"/>
            <a:ext cx="38770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FA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models may fail the same way. Circular validation that feels robust but isn't.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28032" y="2487168"/>
            <a:ext cx="3877056" cy="13716"/>
          </a:xfrm>
          <a:prstGeom prst="rect">
            <a:avLst/>
          </a:prstGeom>
          <a:solidFill>
            <a:srgbClr val="4A6663"/>
          </a:solidFill>
          <a:ln w="12700">
            <a:solidFill>
              <a:srgbClr val="4A666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28032" y="2532888"/>
            <a:ext cx="387705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A8D5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FA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model variant + retrieval-augmented grounding. Users always see what the evaluator couldn't access.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84048" y="3319272"/>
            <a:ext cx="4133088" cy="1572768"/>
          </a:xfrm>
          <a:prstGeom prst="rect">
            <a:avLst/>
          </a:prstGeom>
          <a:solidFill>
            <a:srgbClr val="FFFFFF">
              <a:alpha val="6000"/>
            </a:srgbClr>
          </a:solidFill>
          <a:ln w="9525">
            <a:solidFill>
              <a:srgbClr val="D4870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2064" y="3429000"/>
            <a:ext cx="749808" cy="201168"/>
          </a:xfrm>
          <a:prstGeom prst="roundRect">
            <a:avLst>
              <a:gd name="adj" fmla="val 18182"/>
            </a:avLst>
          </a:prstGeom>
          <a:solidFill>
            <a:srgbClr val="D4870C">
              <a:alpha val="70000"/>
            </a:srgbClr>
          </a:solidFill>
          <a:ln w="12700">
            <a:solidFill>
              <a:srgbClr val="D4870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2064" y="3429000"/>
            <a:ext cx="7498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D4870C"/>
                </a:solidFill>
              </a:rPr>
              <a:t>High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335024" y="3410712"/>
            <a:ext cx="3054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Cognitive overload kills adoption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12064" y="3721608"/>
            <a:ext cx="38770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FA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panel feels like homework. Users turn it off. Lens becomes a premium feature nobody uses.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12064" y="4206240"/>
            <a:ext cx="3877056" cy="13716"/>
          </a:xfrm>
          <a:prstGeom prst="rect">
            <a:avLst/>
          </a:prstGeom>
          <a:solidFill>
            <a:srgbClr val="4A6663"/>
          </a:solidFill>
          <a:ln w="12700">
            <a:solidFill>
              <a:srgbClr val="4A666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2064" y="4251960"/>
            <a:ext cx="387705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A8D5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FA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disclosure: 2 flags by default. Full panel opt-in. Guardrail metric: panel open rate &lt; 15% triggers redesign.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00016" y="3319272"/>
            <a:ext cx="4133088" cy="1572768"/>
          </a:xfrm>
          <a:prstGeom prst="rect">
            <a:avLst/>
          </a:prstGeom>
          <a:solidFill>
            <a:srgbClr val="FFFFFF">
              <a:alpha val="6000"/>
            </a:srgbClr>
          </a:solidFill>
          <a:ln w="9525">
            <a:solidFill>
              <a:srgbClr val="D4870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28032" y="3429000"/>
            <a:ext cx="749808" cy="201168"/>
          </a:xfrm>
          <a:prstGeom prst="roundRect">
            <a:avLst>
              <a:gd name="adj" fmla="val 18182"/>
            </a:avLst>
          </a:prstGeom>
          <a:solidFill>
            <a:srgbClr val="D4870C">
              <a:alpha val="70000"/>
            </a:srgbClr>
          </a:solidFill>
          <a:ln w="12700">
            <a:solidFill>
              <a:srgbClr val="D4870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28032" y="3429000"/>
            <a:ext cx="7498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D4870C"/>
                </a:solidFill>
              </a:rPr>
              <a:t>Medium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650992" y="3410712"/>
            <a:ext cx="3054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Expert vs beginner mismatch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828032" y="3721608"/>
            <a:ext cx="38770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FA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Experts find it patronizing. Beginners find it confusing. Neither group benefits.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28032" y="4206240"/>
            <a:ext cx="3877056" cy="13716"/>
          </a:xfrm>
          <a:prstGeom prst="rect">
            <a:avLst/>
          </a:prstGeom>
          <a:solidFill>
            <a:srgbClr val="4A6663"/>
          </a:solidFill>
          <a:ln w="12700">
            <a:solidFill>
              <a:srgbClr val="4A666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28032" y="4251960"/>
            <a:ext cx="387705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A8D5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FA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adapts to usage history. Experts get "minimal mode." Beginners get guided tooltips during onboarding.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Lens — Claude Output Evaluation Layer</dc:title>
  <dc:subject>PptxGenJS Presentation</dc:subject>
  <dc:creator>PptxGenJS</dc:creator>
  <cp:lastModifiedBy>PptxGenJS</cp:lastModifiedBy>
  <cp:revision>1</cp:revision>
  <dcterms:created xsi:type="dcterms:W3CDTF">2026-05-14T12:12:21Z</dcterms:created>
  <dcterms:modified xsi:type="dcterms:W3CDTF">2026-05-14T12:12:21Z</dcterms:modified>
</cp:coreProperties>
</file>